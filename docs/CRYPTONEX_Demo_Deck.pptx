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[0:00 - 0:03] (no narration - let the title land)</a:t>
            </a:r>
          </a:p>
          <a:p/>
          <a:p>
            <a:r>
              <a:t>- SIH 2026 | Problem Statement 26164</a:t>
            </a:r>
          </a:p>
          <a:p>
            <a:r>
              <a:t>- Offline-first. Nothing ever leaves the machine.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[0:03 - 0:08] You cannot migrate what you cannot see. CRYPTONEX scans a codebase locally - nothing is ever uploaded.</a:t>
            </a:r>
          </a:p>
          <a:p/>
          <a:p>
            <a:r>
              <a:t>- Point it at any codebase - no agent, no cloud, no telemetry</a:t>
            </a:r>
          </a:p>
          <a:p>
            <a:r>
              <a:t>- The scan runs entirely on the local machine</a:t>
            </a:r>
          </a:p>
          <a:p>
            <a:r>
              <a:t>- Air-gap safe: suitable for regulated and classified estates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[0:08 - 0:14] Forty-six cryptographic assets found. Estate posture: grade B out of a hundred.</a:t>
            </a:r>
          </a:p>
          <a:p/>
          <a:p>
            <a:r>
              <a:t>- 46 crypto assets discovered across the estate</a:t>
            </a:r>
          </a:p>
          <a:p>
            <a:r>
              <a:t>- Single headline posture grade: B / 100</a:t>
            </a:r>
          </a:p>
          <a:p>
            <a:r>
              <a:t>- One number a CISO can take to the board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[0:14 - 0:21] Quantum status and criticality, at a glance - color-coded, and every color explained. Click any slice to drill straight in.</a:t>
            </a:r>
          </a:p>
          <a:p/>
          <a:p>
            <a:r>
              <a:t>- Two donuts: quantum status and business criticality</a:t>
            </a:r>
          </a:p>
          <a:p>
            <a:r>
              <a:t>- Every color is defined in-product - no legend guesswork</a:t>
            </a:r>
          </a:p>
          <a:p>
            <a:r>
              <a:t>- Charts are navigation: click a slice to drill 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[0:21 - 0:27] One click on 'Vulnerable' - and we're in the inventory, already filtered to the fifteen assets that need attention.</a:t>
            </a:r>
          </a:p>
          <a:p/>
          <a:p>
            <a:r>
              <a:t>- Clicking 'Vulnerable' lands in the inventory pre-filtered</a:t>
            </a:r>
          </a:p>
          <a:p>
            <a:r>
              <a:t>- 15 of 46 assets flagged as quantum-vulnerable</a:t>
            </a:r>
          </a:p>
          <a:p>
            <a:r>
              <a:t>- Zero manual filtering between insight and action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[0:27 - 0:35] Let's inspect one: the RSA root of trust. Observed evidence, inferred criticality, the Mosca exposure window, and the exact post-quantum recommendation.</a:t>
            </a:r>
          </a:p>
          <a:p/>
          <a:p>
            <a:r>
              <a:t>- Observed evidence - where and how the asset was found</a:t>
            </a:r>
          </a:p>
          <a:p>
            <a:r>
              <a:t>- Inferred criticality, with the reasoning shown</a:t>
            </a:r>
          </a:p>
          <a:p>
            <a:r>
              <a:t>- Mosca exposure window and the exact PQC replacement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[0:35 - 0:40] Twenty-five real-world misuse findings - hardcoded keys, weak modes, disabled TLS checks. Click a severity to filter.</a:t>
            </a:r>
          </a:p>
          <a:p/>
          <a:p>
            <a:r>
              <a:t>- Hardcoded keys, weak cipher modes, disabled TLS verification</a:t>
            </a:r>
          </a:p>
          <a:p>
            <a:r>
              <a:t>- Beyond inventory: how the crypto is actually misused</a:t>
            </a:r>
          </a:p>
          <a:p>
            <a:r>
              <a:t>- Severity donut doubles as the filter control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[0:40 - 0:46] Five critical findings, isolated instantly - each with the exact line, the fix, and the CWE.</a:t>
            </a:r>
          </a:p>
          <a:p/>
          <a:p>
            <a:r>
              <a:t>- Exact file and line number for every finding</a:t>
            </a:r>
          </a:p>
          <a:p>
            <a:r>
              <a:t>- A concrete remediation, not a generic warning</a:t>
            </a:r>
          </a:p>
          <a:p>
            <a:r>
              <a:t>- CWE mapping for audit and ticket traceability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[0:46 - 0:53] Post-quantum readiness: a crypto-agility score, a quantum-risk timeline, and migration waves sequenced by effort.</a:t>
            </a:r>
          </a:p>
          <a:p/>
          <a:p>
            <a:r>
              <a:t>- Crypto-agility score: how replaceable the estate really is</a:t>
            </a:r>
          </a:p>
          <a:p>
            <a:r>
              <a:t>- Quantum-risk timeline projected across the coming years</a:t>
            </a:r>
          </a:p>
          <a:p>
            <a:r>
              <a:t>- Migration waves ordered by effort - a plan, not a list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[0:53 - 0:58] The Mosca Lab lets you model your own assumptions - how long data must stay secret, how long migration takes.</a:t>
            </a:r>
          </a:p>
          <a:p/>
          <a:p>
            <a:r>
              <a:t>- Mosca's inequality made interactive</a:t>
            </a:r>
          </a:p>
          <a:p>
            <a:r>
              <a:t>- Set data shelf life and migration duration yourself</a:t>
            </a:r>
          </a:p>
          <a:p>
            <a:r>
              <a:t>- Starts from the NIST baseline assumptions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[0:58 - 1:05] Switch to the EU-2030 regulator preset - assumptions tighten, and twenty-four of forty-six assets fall at risk. Everything recomputes live.</a:t>
            </a:r>
          </a:p>
          <a:p/>
          <a:p>
            <a:r>
              <a:t>- Regulator presets encode real compliance deadlines</a:t>
            </a:r>
          </a:p>
          <a:p>
            <a:r>
              <a:t>- Tighter assumptions push at-risk assets from 15 to 24</a:t>
            </a:r>
          </a:p>
          <a:p>
            <a:r>
              <a:t>- Every score, chart and wave recomputes live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[1:05 - 1:12] And nothing here is a black box - every color, every score, every rating is explained, right in the console.</a:t>
            </a:r>
          </a:p>
          <a:p/>
          <a:p>
            <a:r>
              <a:t>- Built-in glossary for every color, score and rating</a:t>
            </a:r>
          </a:p>
          <a:p>
            <a:r>
              <a:t>- Explanations live in the console, not a separate manual</a:t>
            </a:r>
          </a:p>
          <a:p>
            <a:r>
              <a:t>- Auditable by design - defensible in front of a regulator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[1:12 - 1:18] Export the CBOM, SARIF, and report - fully offline, ready for a GRC platform, a SIEM, or your CI pipeline.</a:t>
            </a:r>
          </a:p>
          <a:p/>
          <a:p>
            <a:r>
              <a:t>- CBOM for GRC platforms and asset inventories</a:t>
            </a:r>
          </a:p>
          <a:p>
            <a:r>
              <a:t>- SARIF for SIEM ingestion and CI/CD gating</a:t>
            </a:r>
          </a:p>
          <a:p>
            <a:r>
              <a:t>- Human-readable report for auditors and leadership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[1:18 - 1:22] (no narration - let the tagline land)</a:t>
            </a:r>
          </a:p>
          <a:p/>
          <a:p>
            <a:r>
              <a:t>- Discover every cryptographic asset - locally</a:t>
            </a:r>
          </a:p>
          <a:p>
            <a:r>
              <a:t>- Score quantum exposure with Mosca's inequality</a:t>
            </a:r>
          </a:p>
          <a:p>
            <a:r>
              <a:t>- Ship a sequenced, auditable migration plan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E9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2057400"/>
            <a:ext cx="9784080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400" b="1" i="0">
                <a:solidFill>
                  <a:srgbClr val="1E9EB8"/>
                </a:solidFill>
                <a:latin typeface="Calibri"/>
              </a:rPr>
              <a:t>Cryptographic Bill of Materials &amp; Post-Quantum Readiness Console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200"/>
              </a:spcAft>
            </a:pPr>
            <a:r>
              <a:rPr sz="5400" b="1" i="0">
                <a:solidFill>
                  <a:srgbClr val="FFFFFF"/>
                </a:solidFill>
                <a:latin typeface="Calibri"/>
              </a:rPr>
              <a:t>CRYPTONEX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700" b="0" i="0">
                <a:solidFill>
                  <a:srgbClr val="C4CAD4"/>
                </a:solidFill>
                <a:latin typeface="Calibri"/>
              </a:rPr>
              <a:t>SIH 2026 | Problem Statement 26164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700" b="0" i="0">
                <a:solidFill>
                  <a:srgbClr val="C4CAD4"/>
                </a:solidFill>
                <a:latin typeface="Calibri"/>
              </a:rPr>
              <a:t>Offline-first. Nothing ever leaves the machine.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5989320"/>
            <a:ext cx="9784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C8799"/>
                </a:solidFill>
                <a:latin typeface="Calibri"/>
              </a:rPr>
              <a:t>CRYPTONEX  |  SIH 2026  |  PS 26164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15568"/>
          </a:xfrm>
          <a:prstGeom prst="rect">
            <a:avLst/>
          </a:prstGeom>
          <a:solidFill>
            <a:srgbClr val="1B2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15568"/>
            <a:ext cx="12191695" cy="45720"/>
          </a:xfrm>
          <a:prstGeom prst="rect">
            <a:avLst/>
          </a:prstGeom>
          <a:solidFill>
            <a:srgbClr val="1E9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82880"/>
            <a:ext cx="87782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50" b="1" i="0">
                <a:solidFill>
                  <a:srgbClr val="1E9EB8"/>
                </a:solidFill>
                <a:latin typeface="Calibri"/>
              </a:rPr>
              <a:t>SCAN PAGE, IDLE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You Cannot Migrate What You Cannot See</a:t>
            </a:r>
          </a:p>
        </p:txBody>
      </p:sp>
      <p:sp>
        <p:nvSpPr>
          <p:cNvPr id="6" name="Rectangle 5"/>
          <p:cNvSpPr/>
          <p:nvPr/>
        </p:nvSpPr>
        <p:spPr>
          <a:xfrm>
            <a:off x="10469880" y="329184"/>
            <a:ext cx="1170432" cy="384048"/>
          </a:xfrm>
          <a:prstGeom prst="rect">
            <a:avLst/>
          </a:prstGeom>
          <a:solidFill>
            <a:srgbClr val="2C36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CAD4"/>
                </a:solidFill>
                <a:latin typeface="Calibri"/>
              </a:rPr>
              <a:t>0:03 - 0:08</a:t>
            </a:r>
          </a:p>
        </p:txBody>
      </p:sp>
      <p:sp>
        <p:nvSpPr>
          <p:cNvPr id="7" name="Rectangle 6"/>
          <p:cNvSpPr/>
          <p:nvPr/>
        </p:nvSpPr>
        <p:spPr>
          <a:xfrm>
            <a:off x="525780" y="1531620"/>
            <a:ext cx="7534656" cy="4740021"/>
          </a:xfrm>
          <a:prstGeom prst="rect">
            <a:avLst/>
          </a:prstGeom>
          <a:solidFill>
            <a:srgbClr val="DD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1-sc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572768"/>
            <a:ext cx="7452360" cy="465772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458200" y="1572768"/>
            <a:ext cx="3154680" cy="1965960"/>
          </a:xfrm>
          <a:prstGeom prst="rect">
            <a:avLst/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9456" rIns="146304" tIns="164592" bIns="128016"/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900" b="1" i="0">
                <a:solidFill>
                  <a:srgbClr val="6B7484"/>
                </a:solidFill>
                <a:latin typeface="Calibri"/>
              </a:rPr>
              <a:t>NARRATION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1B222F"/>
                </a:solidFill>
                <a:latin typeface="Calibri"/>
              </a:rPr>
              <a:t>You cannot migrate what you cannot see. CRYPTONEX scans a codebase locally - nothing is ever uploaded.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58200" y="1572768"/>
            <a:ext cx="45720" cy="1965960"/>
          </a:xfrm>
          <a:prstGeom prst="rect">
            <a:avLst/>
          </a:prstGeom>
          <a:solidFill>
            <a:srgbClr val="1E9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0" y="3794760"/>
            <a:ext cx="306324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900" b="1" i="0">
                <a:solidFill>
                  <a:srgbClr val="6B7484"/>
                </a:solidFill>
                <a:latin typeface="Calibri"/>
              </a:rPr>
              <a:t>WHAT TO NOTICE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100" b="1">
                <a:solidFill>
                  <a:srgbClr val="1E9EB8"/>
                </a:solidFill>
                <a:latin typeface="Calibri"/>
              </a:rPr>
              <a:t>▪  </a:t>
            </a:r>
            <a:r>
              <a:rPr sz="1150">
                <a:solidFill>
                  <a:srgbClr val="1B222F"/>
                </a:solidFill>
                <a:latin typeface="Calibri"/>
              </a:rPr>
              <a:t>Point it at any codebase - no agent, no cloud, no telemetry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100" b="1">
                <a:solidFill>
                  <a:srgbClr val="1E9EB8"/>
                </a:solidFill>
                <a:latin typeface="Calibri"/>
              </a:rPr>
              <a:t>▪  </a:t>
            </a:r>
            <a:r>
              <a:rPr sz="1150">
                <a:solidFill>
                  <a:srgbClr val="1B222F"/>
                </a:solidFill>
                <a:latin typeface="Calibri"/>
              </a:rPr>
              <a:t>The scan runs entirely on the local machine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100" b="1">
                <a:solidFill>
                  <a:srgbClr val="1E9EB8"/>
                </a:solidFill>
                <a:latin typeface="Calibri"/>
              </a:rPr>
              <a:t>▪  </a:t>
            </a:r>
            <a:r>
              <a:rPr sz="1150">
                <a:solidFill>
                  <a:srgbClr val="1B222F"/>
                </a:solidFill>
                <a:latin typeface="Calibri"/>
              </a:rPr>
              <a:t>Air-gap safe: suitable for regulated and classified estates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B7484"/>
                </a:solidFill>
                <a:latin typeface="Calibri"/>
              </a:rPr>
              <a:t>CRYPTONEX  |  SIH 2026  |  PS 26164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355080"/>
            <a:ext cx="85039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B7484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15568"/>
          </a:xfrm>
          <a:prstGeom prst="rect">
            <a:avLst/>
          </a:prstGeom>
          <a:solidFill>
            <a:srgbClr val="1B2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15568"/>
            <a:ext cx="12191695" cy="45720"/>
          </a:xfrm>
          <a:prstGeom prst="rect">
            <a:avLst/>
          </a:prstGeom>
          <a:solidFill>
            <a:srgbClr val="1E9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82880"/>
            <a:ext cx="87782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50" b="1" i="0">
                <a:solidFill>
                  <a:srgbClr val="1E9EB8"/>
                </a:solidFill>
                <a:latin typeface="Calibri"/>
              </a:rPr>
              <a:t>ESTATE POSTURE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46 Cryptographic Assets, Graded</a:t>
            </a:r>
          </a:p>
        </p:txBody>
      </p:sp>
      <p:sp>
        <p:nvSpPr>
          <p:cNvPr id="6" name="Rectangle 5"/>
          <p:cNvSpPr/>
          <p:nvPr/>
        </p:nvSpPr>
        <p:spPr>
          <a:xfrm>
            <a:off x="10469880" y="329184"/>
            <a:ext cx="1170432" cy="384048"/>
          </a:xfrm>
          <a:prstGeom prst="rect">
            <a:avLst/>
          </a:prstGeom>
          <a:solidFill>
            <a:srgbClr val="2C36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CAD4"/>
                </a:solidFill>
                <a:latin typeface="Calibri"/>
              </a:rPr>
              <a:t>0:08 - 0:14</a:t>
            </a:r>
          </a:p>
        </p:txBody>
      </p:sp>
      <p:sp>
        <p:nvSpPr>
          <p:cNvPr id="7" name="Rectangle 6"/>
          <p:cNvSpPr/>
          <p:nvPr/>
        </p:nvSpPr>
        <p:spPr>
          <a:xfrm>
            <a:off x="525780" y="1531620"/>
            <a:ext cx="7534656" cy="4740021"/>
          </a:xfrm>
          <a:prstGeom prst="rect">
            <a:avLst/>
          </a:prstGeom>
          <a:solidFill>
            <a:srgbClr val="DD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2-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572768"/>
            <a:ext cx="7452360" cy="465772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458200" y="1572768"/>
            <a:ext cx="3154680" cy="1965960"/>
          </a:xfrm>
          <a:prstGeom prst="rect">
            <a:avLst/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9456" rIns="146304" tIns="164592" bIns="128016"/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900" b="1" i="0">
                <a:solidFill>
                  <a:srgbClr val="6B7484"/>
                </a:solidFill>
                <a:latin typeface="Calibri"/>
              </a:rPr>
              <a:t>NARRATION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1B222F"/>
                </a:solidFill>
                <a:latin typeface="Calibri"/>
              </a:rPr>
              <a:t>Forty-six cryptographic assets found. Estate posture: grade B out of a hundred.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58200" y="1572768"/>
            <a:ext cx="45720" cy="1965960"/>
          </a:xfrm>
          <a:prstGeom prst="rect">
            <a:avLst/>
          </a:prstGeom>
          <a:solidFill>
            <a:srgbClr val="1E9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0" y="3794760"/>
            <a:ext cx="306324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900" b="1" i="0">
                <a:solidFill>
                  <a:srgbClr val="6B7484"/>
                </a:solidFill>
                <a:latin typeface="Calibri"/>
              </a:rPr>
              <a:t>WHAT TO NOTICE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100" b="1">
                <a:solidFill>
                  <a:srgbClr val="1E9EB8"/>
                </a:solidFill>
                <a:latin typeface="Calibri"/>
              </a:rPr>
              <a:t>▪  </a:t>
            </a:r>
            <a:r>
              <a:rPr sz="1150">
                <a:solidFill>
                  <a:srgbClr val="1B222F"/>
                </a:solidFill>
                <a:latin typeface="Calibri"/>
              </a:rPr>
              <a:t>46 crypto assets discovered across the estate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100" b="1">
                <a:solidFill>
                  <a:srgbClr val="1E9EB8"/>
                </a:solidFill>
                <a:latin typeface="Calibri"/>
              </a:rPr>
              <a:t>▪  </a:t>
            </a:r>
            <a:r>
              <a:rPr sz="1150">
                <a:solidFill>
                  <a:srgbClr val="1B222F"/>
                </a:solidFill>
                <a:latin typeface="Calibri"/>
              </a:rPr>
              <a:t>Single headline posture grade: B / 100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100" b="1">
                <a:solidFill>
                  <a:srgbClr val="1E9EB8"/>
                </a:solidFill>
                <a:latin typeface="Calibri"/>
              </a:rPr>
              <a:t>▪  </a:t>
            </a:r>
            <a:r>
              <a:rPr sz="1150">
                <a:solidFill>
                  <a:srgbClr val="1B222F"/>
                </a:solidFill>
                <a:latin typeface="Calibri"/>
              </a:rPr>
              <a:t>One number a CISO can take to the 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B7484"/>
                </a:solidFill>
                <a:latin typeface="Calibri"/>
              </a:rPr>
              <a:t>CRYPTONEX  |  SIH 2026  |  PS 26164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355080"/>
            <a:ext cx="85039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B7484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15568"/>
          </a:xfrm>
          <a:prstGeom prst="rect">
            <a:avLst/>
          </a:prstGeom>
          <a:solidFill>
            <a:srgbClr val="1B2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15568"/>
            <a:ext cx="12191695" cy="45720"/>
          </a:xfrm>
          <a:prstGeom prst="rect">
            <a:avLst/>
          </a:prstGeom>
          <a:solidFill>
            <a:srgbClr val="1E9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82880"/>
            <a:ext cx="87782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50" b="1" i="0">
                <a:solidFill>
                  <a:srgbClr val="1E9EB8"/>
                </a:solidFill>
                <a:latin typeface="Calibri"/>
              </a:rPr>
              <a:t>OVERVIEW DONUTS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Quantum Status and Criticality at a Glance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10469880" y="329184"/>
            <a:ext cx="1170432" cy="384048"/>
          </a:xfrm>
          <a:prstGeom prst="rect">
            <a:avLst/>
          </a:prstGeom>
          <a:solidFill>
            <a:srgbClr val="2C36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CAD4"/>
                </a:solidFill>
                <a:latin typeface="Calibri"/>
              </a:rPr>
              <a:t>0:14 - 0:21</a:t>
            </a:r>
          </a:p>
        </p:txBody>
      </p:sp>
      <p:sp>
        <p:nvSpPr>
          <p:cNvPr id="7" name="Rectangle 6"/>
          <p:cNvSpPr/>
          <p:nvPr/>
        </p:nvSpPr>
        <p:spPr>
          <a:xfrm>
            <a:off x="525780" y="1531620"/>
            <a:ext cx="7534656" cy="4740021"/>
          </a:xfrm>
          <a:prstGeom prst="rect">
            <a:avLst/>
          </a:prstGeom>
          <a:solidFill>
            <a:srgbClr val="DD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3-overview-donu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572768"/>
            <a:ext cx="7452360" cy="465772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458200" y="1572768"/>
            <a:ext cx="3154680" cy="1965960"/>
          </a:xfrm>
          <a:prstGeom prst="rect">
            <a:avLst/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9456" rIns="146304" tIns="164592" bIns="128016"/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900" b="1" i="0">
                <a:solidFill>
                  <a:srgbClr val="6B7484"/>
                </a:solidFill>
                <a:latin typeface="Calibri"/>
              </a:rPr>
              <a:t>NARRATION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1B222F"/>
                </a:solidFill>
                <a:latin typeface="Calibri"/>
              </a:rPr>
              <a:t>Quantum status and criticality, at a glance - color-coded, and every color explained. Click any slice to drill straight in.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58200" y="1572768"/>
            <a:ext cx="45720" cy="1965960"/>
          </a:xfrm>
          <a:prstGeom prst="rect">
            <a:avLst/>
          </a:prstGeom>
          <a:solidFill>
            <a:srgbClr val="1E9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0" y="3794760"/>
            <a:ext cx="306324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900" b="1" i="0">
                <a:solidFill>
                  <a:srgbClr val="6B7484"/>
                </a:solidFill>
                <a:latin typeface="Calibri"/>
              </a:rPr>
              <a:t>WHAT TO NOTICE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100" b="1">
                <a:solidFill>
                  <a:srgbClr val="1E9EB8"/>
                </a:solidFill>
                <a:latin typeface="Calibri"/>
              </a:rPr>
              <a:t>▪  </a:t>
            </a:r>
            <a:r>
              <a:rPr sz="1150">
                <a:solidFill>
                  <a:srgbClr val="1B222F"/>
                </a:solidFill>
                <a:latin typeface="Calibri"/>
              </a:rPr>
              <a:t>Two donuts: quantum status and business criticality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100" b="1">
                <a:solidFill>
                  <a:srgbClr val="1E9EB8"/>
                </a:solidFill>
                <a:latin typeface="Calibri"/>
              </a:rPr>
              <a:t>▪  </a:t>
            </a:r>
            <a:r>
              <a:rPr sz="1150">
                <a:solidFill>
                  <a:srgbClr val="1B222F"/>
                </a:solidFill>
                <a:latin typeface="Calibri"/>
              </a:rPr>
              <a:t>Every color is defined in-product - no legend guesswork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100" b="1">
                <a:solidFill>
                  <a:srgbClr val="1E9EB8"/>
                </a:solidFill>
                <a:latin typeface="Calibri"/>
              </a:rPr>
              <a:t>▪  </a:t>
            </a:r>
            <a:r>
              <a:rPr sz="1150">
                <a:solidFill>
                  <a:srgbClr val="1B222F"/>
                </a:solidFill>
                <a:latin typeface="Calibri"/>
              </a:rPr>
              <a:t>Charts are navigation: click a slice to drill 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B7484"/>
                </a:solidFill>
                <a:latin typeface="Calibri"/>
              </a:rPr>
              <a:t>CRYPTONEX  |  SIH 2026  |  PS 26164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355080"/>
            <a:ext cx="85039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B7484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15568"/>
          </a:xfrm>
          <a:prstGeom prst="rect">
            <a:avLst/>
          </a:prstGeom>
          <a:solidFill>
            <a:srgbClr val="1B2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15568"/>
            <a:ext cx="12191695" cy="45720"/>
          </a:xfrm>
          <a:prstGeom prst="rect">
            <a:avLst/>
          </a:prstGeom>
          <a:solidFill>
            <a:srgbClr val="1E9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82880"/>
            <a:ext cx="87782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50" b="1" i="0">
                <a:solidFill>
                  <a:srgbClr val="1E9EB8"/>
                </a:solidFill>
                <a:latin typeface="Calibri"/>
              </a:rPr>
              <a:t>VULNERABLE -&gt; INVENTORY, FILTERED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One Click to the 15 Assets That Matter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10469880" y="329184"/>
            <a:ext cx="1170432" cy="384048"/>
          </a:xfrm>
          <a:prstGeom prst="rect">
            <a:avLst/>
          </a:prstGeom>
          <a:solidFill>
            <a:srgbClr val="2C36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CAD4"/>
                </a:solidFill>
                <a:latin typeface="Calibri"/>
              </a:rPr>
              <a:t>0:21 - 0:27</a:t>
            </a:r>
          </a:p>
        </p:txBody>
      </p:sp>
      <p:sp>
        <p:nvSpPr>
          <p:cNvPr id="7" name="Rectangle 6"/>
          <p:cNvSpPr/>
          <p:nvPr/>
        </p:nvSpPr>
        <p:spPr>
          <a:xfrm>
            <a:off x="525780" y="1531620"/>
            <a:ext cx="7534656" cy="4740021"/>
          </a:xfrm>
          <a:prstGeom prst="rect">
            <a:avLst/>
          </a:prstGeom>
          <a:solidFill>
            <a:srgbClr val="DD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4-inventory-filte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572768"/>
            <a:ext cx="7452360" cy="465772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458200" y="1572768"/>
            <a:ext cx="3154680" cy="1965960"/>
          </a:xfrm>
          <a:prstGeom prst="rect">
            <a:avLst/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9456" rIns="146304" tIns="164592" bIns="128016"/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900" b="1" i="0">
                <a:solidFill>
                  <a:srgbClr val="6B7484"/>
                </a:solidFill>
                <a:latin typeface="Calibri"/>
              </a:rPr>
              <a:t>NARRATION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1B222F"/>
                </a:solidFill>
                <a:latin typeface="Calibri"/>
              </a:rPr>
              <a:t>One click on 'Vulnerable' - and we're in the inventory, already filtered to the fifteen assets that need attention.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58200" y="1572768"/>
            <a:ext cx="45720" cy="1965960"/>
          </a:xfrm>
          <a:prstGeom prst="rect">
            <a:avLst/>
          </a:prstGeom>
          <a:solidFill>
            <a:srgbClr val="1E9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0" y="3794760"/>
            <a:ext cx="306324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900" b="1" i="0">
                <a:solidFill>
                  <a:srgbClr val="6B7484"/>
                </a:solidFill>
                <a:latin typeface="Calibri"/>
              </a:rPr>
              <a:t>WHAT TO NOTICE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100" b="1">
                <a:solidFill>
                  <a:srgbClr val="1E9EB8"/>
                </a:solidFill>
                <a:latin typeface="Calibri"/>
              </a:rPr>
              <a:t>▪  </a:t>
            </a:r>
            <a:r>
              <a:rPr sz="1150">
                <a:solidFill>
                  <a:srgbClr val="1B222F"/>
                </a:solidFill>
                <a:latin typeface="Calibri"/>
              </a:rPr>
              <a:t>Clicking 'Vulnerable' lands in the inventory pre-filtered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100" b="1">
                <a:solidFill>
                  <a:srgbClr val="1E9EB8"/>
                </a:solidFill>
                <a:latin typeface="Calibri"/>
              </a:rPr>
              <a:t>▪  </a:t>
            </a:r>
            <a:r>
              <a:rPr sz="1150">
                <a:solidFill>
                  <a:srgbClr val="1B222F"/>
                </a:solidFill>
                <a:latin typeface="Calibri"/>
              </a:rPr>
              <a:t>15 of 46 assets flagged as quantum-vulnerable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100" b="1">
                <a:solidFill>
                  <a:srgbClr val="1E9EB8"/>
                </a:solidFill>
                <a:latin typeface="Calibri"/>
              </a:rPr>
              <a:t>▪  </a:t>
            </a:r>
            <a:r>
              <a:rPr sz="1150">
                <a:solidFill>
                  <a:srgbClr val="1B222F"/>
                </a:solidFill>
                <a:latin typeface="Calibri"/>
              </a:rPr>
              <a:t>Zero manual filtering between insight and action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B7484"/>
                </a:solidFill>
                <a:latin typeface="Calibri"/>
              </a:rPr>
              <a:t>CRYPTONEX  |  SIH 2026  |  PS 26164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355080"/>
            <a:ext cx="85039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B7484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15568"/>
          </a:xfrm>
          <a:prstGeom prst="rect">
            <a:avLst/>
          </a:prstGeom>
          <a:solidFill>
            <a:srgbClr val="1B2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15568"/>
            <a:ext cx="12191695" cy="45720"/>
          </a:xfrm>
          <a:prstGeom prst="rect">
            <a:avLst/>
          </a:prstGeom>
          <a:solidFill>
            <a:srgbClr val="1E9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82880"/>
            <a:ext cx="87782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50" b="1" i="0">
                <a:solidFill>
                  <a:srgbClr val="1E9EB8"/>
                </a:solidFill>
                <a:latin typeface="Calibri"/>
              </a:rPr>
              <a:t>INVENTORY DETAIL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Inside One Asset: The RSA Root of Trust</a:t>
            </a:r>
          </a:p>
        </p:txBody>
      </p:sp>
      <p:sp>
        <p:nvSpPr>
          <p:cNvPr id="6" name="Rectangle 5"/>
          <p:cNvSpPr/>
          <p:nvPr/>
        </p:nvSpPr>
        <p:spPr>
          <a:xfrm>
            <a:off x="10469880" y="329184"/>
            <a:ext cx="1170432" cy="384048"/>
          </a:xfrm>
          <a:prstGeom prst="rect">
            <a:avLst/>
          </a:prstGeom>
          <a:solidFill>
            <a:srgbClr val="2C36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CAD4"/>
                </a:solidFill>
                <a:latin typeface="Calibri"/>
              </a:rPr>
              <a:t>0:27 - 0:35</a:t>
            </a:r>
          </a:p>
        </p:txBody>
      </p:sp>
      <p:sp>
        <p:nvSpPr>
          <p:cNvPr id="7" name="Rectangle 6"/>
          <p:cNvSpPr/>
          <p:nvPr/>
        </p:nvSpPr>
        <p:spPr>
          <a:xfrm>
            <a:off x="525780" y="1531620"/>
            <a:ext cx="7534656" cy="4740021"/>
          </a:xfrm>
          <a:prstGeom prst="rect">
            <a:avLst/>
          </a:prstGeom>
          <a:solidFill>
            <a:srgbClr val="DD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5-inventory-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572768"/>
            <a:ext cx="7452360" cy="465772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458200" y="1572768"/>
            <a:ext cx="3154680" cy="1965960"/>
          </a:xfrm>
          <a:prstGeom prst="rect">
            <a:avLst/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9456" rIns="146304" tIns="164592" bIns="128016"/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900" b="1" i="0">
                <a:solidFill>
                  <a:srgbClr val="6B7484"/>
                </a:solidFill>
                <a:latin typeface="Calibri"/>
              </a:rPr>
              <a:t>NARRATION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1B222F"/>
                </a:solidFill>
                <a:latin typeface="Calibri"/>
              </a:rPr>
              <a:t>Let's inspect one: the RSA root of trust. Observed evidence, inferred criticality, the Mosca exposure window, and the exact post-quantum recommendation.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58200" y="1572768"/>
            <a:ext cx="45720" cy="1965960"/>
          </a:xfrm>
          <a:prstGeom prst="rect">
            <a:avLst/>
          </a:prstGeom>
          <a:solidFill>
            <a:srgbClr val="1E9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0" y="3794760"/>
            <a:ext cx="306324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900" b="1" i="0">
                <a:solidFill>
                  <a:srgbClr val="6B7484"/>
                </a:solidFill>
                <a:latin typeface="Calibri"/>
              </a:rPr>
              <a:t>WHAT TO NOTICE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100" b="1">
                <a:solidFill>
                  <a:srgbClr val="1E9EB8"/>
                </a:solidFill>
                <a:latin typeface="Calibri"/>
              </a:rPr>
              <a:t>▪  </a:t>
            </a:r>
            <a:r>
              <a:rPr sz="1150">
                <a:solidFill>
                  <a:srgbClr val="1B222F"/>
                </a:solidFill>
                <a:latin typeface="Calibri"/>
              </a:rPr>
              <a:t>Observed evidence - where and how the asset was found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100" b="1">
                <a:solidFill>
                  <a:srgbClr val="1E9EB8"/>
                </a:solidFill>
                <a:latin typeface="Calibri"/>
              </a:rPr>
              <a:t>▪  </a:t>
            </a:r>
            <a:r>
              <a:rPr sz="1150">
                <a:solidFill>
                  <a:srgbClr val="1B222F"/>
                </a:solidFill>
                <a:latin typeface="Calibri"/>
              </a:rPr>
              <a:t>Inferred criticality, with the reasoning shown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100" b="1">
                <a:solidFill>
                  <a:srgbClr val="1E9EB8"/>
                </a:solidFill>
                <a:latin typeface="Calibri"/>
              </a:rPr>
              <a:t>▪  </a:t>
            </a:r>
            <a:r>
              <a:rPr sz="1150">
                <a:solidFill>
                  <a:srgbClr val="1B222F"/>
                </a:solidFill>
                <a:latin typeface="Calibri"/>
              </a:rPr>
              <a:t>Mosca exposure window and the exact PQC replacement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B7484"/>
                </a:solidFill>
                <a:latin typeface="Calibri"/>
              </a:rPr>
              <a:t>CRYPTONEX  |  SIH 2026  |  PS 26164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355080"/>
            <a:ext cx="85039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B7484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15568"/>
          </a:xfrm>
          <a:prstGeom prst="rect">
            <a:avLst/>
          </a:prstGeom>
          <a:solidFill>
            <a:srgbClr val="1B2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15568"/>
            <a:ext cx="12191695" cy="45720"/>
          </a:xfrm>
          <a:prstGeom prst="rect">
            <a:avLst/>
          </a:prstGeom>
          <a:solidFill>
            <a:srgbClr val="1E9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82880"/>
            <a:ext cx="87782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50" b="1" i="0">
                <a:solidFill>
                  <a:srgbClr val="1E9EB8"/>
                </a:solidFill>
                <a:latin typeface="Calibri"/>
              </a:rPr>
              <a:t>WEAKNESSES, SEVERITY DONUT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25 Real-World Misuse Findings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10469880" y="329184"/>
            <a:ext cx="1170432" cy="384048"/>
          </a:xfrm>
          <a:prstGeom prst="rect">
            <a:avLst/>
          </a:prstGeom>
          <a:solidFill>
            <a:srgbClr val="2C36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CAD4"/>
                </a:solidFill>
                <a:latin typeface="Calibri"/>
              </a:rPr>
              <a:t>0:35 - 0:40</a:t>
            </a:r>
          </a:p>
        </p:txBody>
      </p:sp>
      <p:sp>
        <p:nvSpPr>
          <p:cNvPr id="7" name="Rectangle 6"/>
          <p:cNvSpPr/>
          <p:nvPr/>
        </p:nvSpPr>
        <p:spPr>
          <a:xfrm>
            <a:off x="525780" y="1531620"/>
            <a:ext cx="7534656" cy="4740021"/>
          </a:xfrm>
          <a:prstGeom prst="rect">
            <a:avLst/>
          </a:prstGeom>
          <a:solidFill>
            <a:srgbClr val="DD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6-weaknes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572768"/>
            <a:ext cx="7452360" cy="465772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458200" y="1572768"/>
            <a:ext cx="3154680" cy="1965960"/>
          </a:xfrm>
          <a:prstGeom prst="rect">
            <a:avLst/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9456" rIns="146304" tIns="164592" bIns="128016"/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900" b="1" i="0">
                <a:solidFill>
                  <a:srgbClr val="6B7484"/>
                </a:solidFill>
                <a:latin typeface="Calibri"/>
              </a:rPr>
              <a:t>NARRATION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1B222F"/>
                </a:solidFill>
                <a:latin typeface="Calibri"/>
              </a:rPr>
              <a:t>Twenty-five real-world misuse findings - hardcoded keys, weak modes, disabled TLS checks. Click a severity to filter.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58200" y="1572768"/>
            <a:ext cx="45720" cy="1965960"/>
          </a:xfrm>
          <a:prstGeom prst="rect">
            <a:avLst/>
          </a:prstGeom>
          <a:solidFill>
            <a:srgbClr val="1E9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0" y="3794760"/>
            <a:ext cx="306324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900" b="1" i="0">
                <a:solidFill>
                  <a:srgbClr val="6B7484"/>
                </a:solidFill>
                <a:latin typeface="Calibri"/>
              </a:rPr>
              <a:t>WHAT TO NOTICE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100" b="1">
                <a:solidFill>
                  <a:srgbClr val="1E9EB8"/>
                </a:solidFill>
                <a:latin typeface="Calibri"/>
              </a:rPr>
              <a:t>▪  </a:t>
            </a:r>
            <a:r>
              <a:rPr sz="1150">
                <a:solidFill>
                  <a:srgbClr val="1B222F"/>
                </a:solidFill>
                <a:latin typeface="Calibri"/>
              </a:rPr>
              <a:t>Hardcoded keys, weak cipher modes, disabled TLS verification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100" b="1">
                <a:solidFill>
                  <a:srgbClr val="1E9EB8"/>
                </a:solidFill>
                <a:latin typeface="Calibri"/>
              </a:rPr>
              <a:t>▪  </a:t>
            </a:r>
            <a:r>
              <a:rPr sz="1150">
                <a:solidFill>
                  <a:srgbClr val="1B222F"/>
                </a:solidFill>
                <a:latin typeface="Calibri"/>
              </a:rPr>
              <a:t>Beyond inventory: how the crypto is actually misused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100" b="1">
                <a:solidFill>
                  <a:srgbClr val="1E9EB8"/>
                </a:solidFill>
                <a:latin typeface="Calibri"/>
              </a:rPr>
              <a:t>▪  </a:t>
            </a:r>
            <a:r>
              <a:rPr sz="1150">
                <a:solidFill>
                  <a:srgbClr val="1B222F"/>
                </a:solidFill>
                <a:latin typeface="Calibri"/>
              </a:rPr>
              <a:t>Severity donut doubles as the filter 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B7484"/>
                </a:solidFill>
                <a:latin typeface="Calibri"/>
              </a:rPr>
              <a:t>CRYPTONEX  |  SIH 2026  |  PS 26164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355080"/>
            <a:ext cx="85039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B7484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15568"/>
          </a:xfrm>
          <a:prstGeom prst="rect">
            <a:avLst/>
          </a:prstGeom>
          <a:solidFill>
            <a:srgbClr val="1B2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15568"/>
            <a:ext cx="12191695" cy="45720"/>
          </a:xfrm>
          <a:prstGeom prst="rect">
            <a:avLst/>
          </a:prstGeom>
          <a:solidFill>
            <a:srgbClr val="1E9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82880"/>
            <a:ext cx="87782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50" b="1" i="0">
                <a:solidFill>
                  <a:srgbClr val="1E9EB8"/>
                </a:solidFill>
                <a:latin typeface="Calibri"/>
              </a:rPr>
              <a:t>WEAKNESSES FILTERED TO CRITICAL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5 Critical Findings, Isolated Instantly</a:t>
            </a:r>
          </a:p>
        </p:txBody>
      </p:sp>
      <p:sp>
        <p:nvSpPr>
          <p:cNvPr id="6" name="Rectangle 5"/>
          <p:cNvSpPr/>
          <p:nvPr/>
        </p:nvSpPr>
        <p:spPr>
          <a:xfrm>
            <a:off x="10469880" y="329184"/>
            <a:ext cx="1170432" cy="384048"/>
          </a:xfrm>
          <a:prstGeom prst="rect">
            <a:avLst/>
          </a:prstGeom>
          <a:solidFill>
            <a:srgbClr val="2C36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CAD4"/>
                </a:solidFill>
                <a:latin typeface="Calibri"/>
              </a:rPr>
              <a:t>0:40 - 0:46</a:t>
            </a:r>
          </a:p>
        </p:txBody>
      </p:sp>
      <p:sp>
        <p:nvSpPr>
          <p:cNvPr id="7" name="Rectangle 6"/>
          <p:cNvSpPr/>
          <p:nvPr/>
        </p:nvSpPr>
        <p:spPr>
          <a:xfrm>
            <a:off x="525780" y="1531620"/>
            <a:ext cx="7534656" cy="4740021"/>
          </a:xfrm>
          <a:prstGeom prst="rect">
            <a:avLst/>
          </a:prstGeom>
          <a:solidFill>
            <a:srgbClr val="DD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7-weaknesses-filte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572768"/>
            <a:ext cx="7452360" cy="465772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458200" y="1572768"/>
            <a:ext cx="3154680" cy="1965960"/>
          </a:xfrm>
          <a:prstGeom prst="rect">
            <a:avLst/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9456" rIns="146304" tIns="164592" bIns="128016"/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900" b="1" i="0">
                <a:solidFill>
                  <a:srgbClr val="6B7484"/>
                </a:solidFill>
                <a:latin typeface="Calibri"/>
              </a:rPr>
              <a:t>NARRATION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1B222F"/>
                </a:solidFill>
                <a:latin typeface="Calibri"/>
              </a:rPr>
              <a:t>Five critical findings, isolated instantly - each with the exact line, the fix, and the CWE.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58200" y="1572768"/>
            <a:ext cx="45720" cy="1965960"/>
          </a:xfrm>
          <a:prstGeom prst="rect">
            <a:avLst/>
          </a:prstGeom>
          <a:solidFill>
            <a:srgbClr val="1E9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0" y="3794760"/>
            <a:ext cx="306324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900" b="1" i="0">
                <a:solidFill>
                  <a:srgbClr val="6B7484"/>
                </a:solidFill>
                <a:latin typeface="Calibri"/>
              </a:rPr>
              <a:t>WHAT TO NOTICE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100" b="1">
                <a:solidFill>
                  <a:srgbClr val="1E9EB8"/>
                </a:solidFill>
                <a:latin typeface="Calibri"/>
              </a:rPr>
              <a:t>▪  </a:t>
            </a:r>
            <a:r>
              <a:rPr sz="1150">
                <a:solidFill>
                  <a:srgbClr val="1B222F"/>
                </a:solidFill>
                <a:latin typeface="Calibri"/>
              </a:rPr>
              <a:t>Exact file and line number for every finding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100" b="1">
                <a:solidFill>
                  <a:srgbClr val="1E9EB8"/>
                </a:solidFill>
                <a:latin typeface="Calibri"/>
              </a:rPr>
              <a:t>▪  </a:t>
            </a:r>
            <a:r>
              <a:rPr sz="1150">
                <a:solidFill>
                  <a:srgbClr val="1B222F"/>
                </a:solidFill>
                <a:latin typeface="Calibri"/>
              </a:rPr>
              <a:t>A concrete remediation, not a generic warning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100" b="1">
                <a:solidFill>
                  <a:srgbClr val="1E9EB8"/>
                </a:solidFill>
                <a:latin typeface="Calibri"/>
              </a:rPr>
              <a:t>▪  </a:t>
            </a:r>
            <a:r>
              <a:rPr sz="1150">
                <a:solidFill>
                  <a:srgbClr val="1B222F"/>
                </a:solidFill>
                <a:latin typeface="Calibri"/>
              </a:rPr>
              <a:t>CWE mapping for audit and ticket traceability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B7484"/>
                </a:solidFill>
                <a:latin typeface="Calibri"/>
              </a:rPr>
              <a:t>CRYPTONEX  |  SIH 2026  |  PS 26164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355080"/>
            <a:ext cx="85039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B7484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15568"/>
          </a:xfrm>
          <a:prstGeom prst="rect">
            <a:avLst/>
          </a:prstGeom>
          <a:solidFill>
            <a:srgbClr val="1B2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15568"/>
            <a:ext cx="12191695" cy="45720"/>
          </a:xfrm>
          <a:prstGeom prst="rect">
            <a:avLst/>
          </a:prstGeom>
          <a:solidFill>
            <a:srgbClr val="1E9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82880"/>
            <a:ext cx="87782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50" b="1" i="0">
                <a:solidFill>
                  <a:srgbClr val="1E9EB8"/>
                </a:solidFill>
                <a:latin typeface="Calibri"/>
              </a:rPr>
              <a:t>PQC READINESS: TIMELINE + MIGRATION WAVES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Post-Quantum Readiness, Sequenced</a:t>
            </a:r>
          </a:p>
        </p:txBody>
      </p:sp>
      <p:sp>
        <p:nvSpPr>
          <p:cNvPr id="6" name="Rectangle 5"/>
          <p:cNvSpPr/>
          <p:nvPr/>
        </p:nvSpPr>
        <p:spPr>
          <a:xfrm>
            <a:off x="10469880" y="329184"/>
            <a:ext cx="1170432" cy="384048"/>
          </a:xfrm>
          <a:prstGeom prst="rect">
            <a:avLst/>
          </a:prstGeom>
          <a:solidFill>
            <a:srgbClr val="2C36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CAD4"/>
                </a:solidFill>
                <a:latin typeface="Calibri"/>
              </a:rPr>
              <a:t>0:46 - 0:53</a:t>
            </a:r>
          </a:p>
        </p:txBody>
      </p:sp>
      <p:sp>
        <p:nvSpPr>
          <p:cNvPr id="7" name="Rectangle 6"/>
          <p:cNvSpPr/>
          <p:nvPr/>
        </p:nvSpPr>
        <p:spPr>
          <a:xfrm>
            <a:off x="525780" y="1531620"/>
            <a:ext cx="7534656" cy="4740021"/>
          </a:xfrm>
          <a:prstGeom prst="rect">
            <a:avLst/>
          </a:prstGeom>
          <a:solidFill>
            <a:srgbClr val="DD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8-pqc-readin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572768"/>
            <a:ext cx="7452360" cy="465772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458200" y="1572768"/>
            <a:ext cx="3154680" cy="1965960"/>
          </a:xfrm>
          <a:prstGeom prst="rect">
            <a:avLst/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9456" rIns="146304" tIns="164592" bIns="128016"/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900" b="1" i="0">
                <a:solidFill>
                  <a:srgbClr val="6B7484"/>
                </a:solidFill>
                <a:latin typeface="Calibri"/>
              </a:rPr>
              <a:t>NARRATION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1B222F"/>
                </a:solidFill>
                <a:latin typeface="Calibri"/>
              </a:rPr>
              <a:t>Post-quantum readiness: a crypto-agility score, a quantum-risk timeline, and migration waves sequenced by effort.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58200" y="1572768"/>
            <a:ext cx="45720" cy="1965960"/>
          </a:xfrm>
          <a:prstGeom prst="rect">
            <a:avLst/>
          </a:prstGeom>
          <a:solidFill>
            <a:srgbClr val="1E9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0" y="3794760"/>
            <a:ext cx="306324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900" b="1" i="0">
                <a:solidFill>
                  <a:srgbClr val="6B7484"/>
                </a:solidFill>
                <a:latin typeface="Calibri"/>
              </a:rPr>
              <a:t>WHAT TO NOTICE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100" b="1">
                <a:solidFill>
                  <a:srgbClr val="1E9EB8"/>
                </a:solidFill>
                <a:latin typeface="Calibri"/>
              </a:rPr>
              <a:t>▪  </a:t>
            </a:r>
            <a:r>
              <a:rPr sz="1150">
                <a:solidFill>
                  <a:srgbClr val="1B222F"/>
                </a:solidFill>
                <a:latin typeface="Calibri"/>
              </a:rPr>
              <a:t>Crypto-agility score: how replaceable the estate really is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100" b="1">
                <a:solidFill>
                  <a:srgbClr val="1E9EB8"/>
                </a:solidFill>
                <a:latin typeface="Calibri"/>
              </a:rPr>
              <a:t>▪  </a:t>
            </a:r>
            <a:r>
              <a:rPr sz="1150">
                <a:solidFill>
                  <a:srgbClr val="1B222F"/>
                </a:solidFill>
                <a:latin typeface="Calibri"/>
              </a:rPr>
              <a:t>Quantum-risk timeline projected across the coming years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100" b="1">
                <a:solidFill>
                  <a:srgbClr val="1E9EB8"/>
                </a:solidFill>
                <a:latin typeface="Calibri"/>
              </a:rPr>
              <a:t>▪  </a:t>
            </a:r>
            <a:r>
              <a:rPr sz="1150">
                <a:solidFill>
                  <a:srgbClr val="1B222F"/>
                </a:solidFill>
                <a:latin typeface="Calibri"/>
              </a:rPr>
              <a:t>Migration waves ordered by effort - a plan, not a list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B7484"/>
                </a:solidFill>
                <a:latin typeface="Calibri"/>
              </a:rPr>
              <a:t>CRYPTONEX  |  SIH 2026  |  PS 26164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355080"/>
            <a:ext cx="85039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B7484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15568"/>
          </a:xfrm>
          <a:prstGeom prst="rect">
            <a:avLst/>
          </a:prstGeom>
          <a:solidFill>
            <a:srgbClr val="1B2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15568"/>
            <a:ext cx="12191695" cy="45720"/>
          </a:xfrm>
          <a:prstGeom prst="rect">
            <a:avLst/>
          </a:prstGeom>
          <a:solidFill>
            <a:srgbClr val="1E9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82880"/>
            <a:ext cx="87782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50" b="1" i="0">
                <a:solidFill>
                  <a:srgbClr val="1E9EB8"/>
                </a:solidFill>
                <a:latin typeface="Calibri"/>
              </a:rPr>
              <a:t>MOSCA LAB, NIST BASELINE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The Mosca Lab: Model Your Own Assumptions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10469880" y="329184"/>
            <a:ext cx="1170432" cy="384048"/>
          </a:xfrm>
          <a:prstGeom prst="rect">
            <a:avLst/>
          </a:prstGeom>
          <a:solidFill>
            <a:srgbClr val="2C36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CAD4"/>
                </a:solidFill>
                <a:latin typeface="Calibri"/>
              </a:rPr>
              <a:t>0:53 - 0:58</a:t>
            </a:r>
          </a:p>
        </p:txBody>
      </p:sp>
      <p:sp>
        <p:nvSpPr>
          <p:cNvPr id="7" name="Rectangle 6"/>
          <p:cNvSpPr/>
          <p:nvPr/>
        </p:nvSpPr>
        <p:spPr>
          <a:xfrm>
            <a:off x="525780" y="1531620"/>
            <a:ext cx="7534656" cy="4740021"/>
          </a:xfrm>
          <a:prstGeom prst="rect">
            <a:avLst/>
          </a:prstGeom>
          <a:solidFill>
            <a:srgbClr val="DD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9-mosca-bas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572768"/>
            <a:ext cx="7452360" cy="465772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458200" y="1572768"/>
            <a:ext cx="3154680" cy="1965960"/>
          </a:xfrm>
          <a:prstGeom prst="rect">
            <a:avLst/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9456" rIns="146304" tIns="164592" bIns="128016"/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900" b="1" i="0">
                <a:solidFill>
                  <a:srgbClr val="6B7484"/>
                </a:solidFill>
                <a:latin typeface="Calibri"/>
              </a:rPr>
              <a:t>NARRATION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1B222F"/>
                </a:solidFill>
                <a:latin typeface="Calibri"/>
              </a:rPr>
              <a:t>The Mosca Lab lets you model your own assumptions - how long data must stay secret, how long migration takes.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58200" y="1572768"/>
            <a:ext cx="45720" cy="1965960"/>
          </a:xfrm>
          <a:prstGeom prst="rect">
            <a:avLst/>
          </a:prstGeom>
          <a:solidFill>
            <a:srgbClr val="1E9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0" y="3794760"/>
            <a:ext cx="306324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900" b="1" i="0">
                <a:solidFill>
                  <a:srgbClr val="6B7484"/>
                </a:solidFill>
                <a:latin typeface="Calibri"/>
              </a:rPr>
              <a:t>WHAT TO NOTICE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100" b="1">
                <a:solidFill>
                  <a:srgbClr val="1E9EB8"/>
                </a:solidFill>
                <a:latin typeface="Calibri"/>
              </a:rPr>
              <a:t>▪  </a:t>
            </a:r>
            <a:r>
              <a:rPr sz="1150">
                <a:solidFill>
                  <a:srgbClr val="1B222F"/>
                </a:solidFill>
                <a:latin typeface="Calibri"/>
              </a:rPr>
              <a:t>Mosca's inequality made interactive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100" b="1">
                <a:solidFill>
                  <a:srgbClr val="1E9EB8"/>
                </a:solidFill>
                <a:latin typeface="Calibri"/>
              </a:rPr>
              <a:t>▪  </a:t>
            </a:r>
            <a:r>
              <a:rPr sz="1150">
                <a:solidFill>
                  <a:srgbClr val="1B222F"/>
                </a:solidFill>
                <a:latin typeface="Calibri"/>
              </a:rPr>
              <a:t>Set data shelf life and migration duration yourself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100" b="1">
                <a:solidFill>
                  <a:srgbClr val="1E9EB8"/>
                </a:solidFill>
                <a:latin typeface="Calibri"/>
              </a:rPr>
              <a:t>▪  </a:t>
            </a:r>
            <a:r>
              <a:rPr sz="1150">
                <a:solidFill>
                  <a:srgbClr val="1B222F"/>
                </a:solidFill>
                <a:latin typeface="Calibri"/>
              </a:rPr>
              <a:t>Starts from the NIST baseline assumptions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B7484"/>
                </a:solidFill>
                <a:latin typeface="Calibri"/>
              </a:rPr>
              <a:t>CRYPTONEX  |  SIH 2026  |  PS 26164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355080"/>
            <a:ext cx="85039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B7484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15568"/>
          </a:xfrm>
          <a:prstGeom prst="rect">
            <a:avLst/>
          </a:prstGeom>
          <a:solidFill>
            <a:srgbClr val="1B2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15568"/>
            <a:ext cx="12191695" cy="45720"/>
          </a:xfrm>
          <a:prstGeom prst="rect">
            <a:avLst/>
          </a:prstGeom>
          <a:solidFill>
            <a:srgbClr val="1E9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82880"/>
            <a:ext cx="87782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50" b="1" i="0">
                <a:solidFill>
                  <a:srgbClr val="1E9EB8"/>
                </a:solidFill>
                <a:latin typeface="Calibri"/>
              </a:rPr>
              <a:t>REGULATOR PRESET, LIVE RECOMPUTE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EU-2030 Preset: 24 of 46 Assets Fall at Risk</a:t>
            </a:r>
          </a:p>
        </p:txBody>
      </p:sp>
      <p:sp>
        <p:nvSpPr>
          <p:cNvPr id="6" name="Rectangle 5"/>
          <p:cNvSpPr/>
          <p:nvPr/>
        </p:nvSpPr>
        <p:spPr>
          <a:xfrm>
            <a:off x="10469880" y="329184"/>
            <a:ext cx="1170432" cy="384048"/>
          </a:xfrm>
          <a:prstGeom prst="rect">
            <a:avLst/>
          </a:prstGeom>
          <a:solidFill>
            <a:srgbClr val="2C36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CAD4"/>
                </a:solidFill>
                <a:latin typeface="Calibri"/>
              </a:rPr>
              <a:t>0:58 - 1:05</a:t>
            </a:r>
          </a:p>
        </p:txBody>
      </p:sp>
      <p:sp>
        <p:nvSpPr>
          <p:cNvPr id="7" name="Rectangle 6"/>
          <p:cNvSpPr/>
          <p:nvPr/>
        </p:nvSpPr>
        <p:spPr>
          <a:xfrm>
            <a:off x="525780" y="1531620"/>
            <a:ext cx="7534656" cy="4740021"/>
          </a:xfrm>
          <a:prstGeom prst="rect">
            <a:avLst/>
          </a:prstGeom>
          <a:solidFill>
            <a:srgbClr val="DD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10-mosca-regula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572768"/>
            <a:ext cx="7452360" cy="465772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458200" y="1572768"/>
            <a:ext cx="3154680" cy="1965960"/>
          </a:xfrm>
          <a:prstGeom prst="rect">
            <a:avLst/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9456" rIns="146304" tIns="164592" bIns="128016"/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900" b="1" i="0">
                <a:solidFill>
                  <a:srgbClr val="6B7484"/>
                </a:solidFill>
                <a:latin typeface="Calibri"/>
              </a:rPr>
              <a:t>NARRATION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1B222F"/>
                </a:solidFill>
                <a:latin typeface="Calibri"/>
              </a:rPr>
              <a:t>Switch to the EU-2030 regulator preset - assumptions tighten, and twenty-four of forty-six assets fall at risk. Everything recomputes live.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58200" y="1572768"/>
            <a:ext cx="45720" cy="1965960"/>
          </a:xfrm>
          <a:prstGeom prst="rect">
            <a:avLst/>
          </a:prstGeom>
          <a:solidFill>
            <a:srgbClr val="1E9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0" y="3794760"/>
            <a:ext cx="306324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900" b="1" i="0">
                <a:solidFill>
                  <a:srgbClr val="6B7484"/>
                </a:solidFill>
                <a:latin typeface="Calibri"/>
              </a:rPr>
              <a:t>WHAT TO NOTICE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100" b="1">
                <a:solidFill>
                  <a:srgbClr val="1E9EB8"/>
                </a:solidFill>
                <a:latin typeface="Calibri"/>
              </a:rPr>
              <a:t>▪  </a:t>
            </a:r>
            <a:r>
              <a:rPr sz="1150">
                <a:solidFill>
                  <a:srgbClr val="1B222F"/>
                </a:solidFill>
                <a:latin typeface="Calibri"/>
              </a:rPr>
              <a:t>Regulator presets encode real compliance deadlines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100" b="1">
                <a:solidFill>
                  <a:srgbClr val="1E9EB8"/>
                </a:solidFill>
                <a:latin typeface="Calibri"/>
              </a:rPr>
              <a:t>▪  </a:t>
            </a:r>
            <a:r>
              <a:rPr sz="1150">
                <a:solidFill>
                  <a:srgbClr val="1B222F"/>
                </a:solidFill>
                <a:latin typeface="Calibri"/>
              </a:rPr>
              <a:t>Tighter assumptions push at-risk assets from 15 to 24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100" b="1">
                <a:solidFill>
                  <a:srgbClr val="1E9EB8"/>
                </a:solidFill>
                <a:latin typeface="Calibri"/>
              </a:rPr>
              <a:t>▪  </a:t>
            </a:r>
            <a:r>
              <a:rPr sz="1150">
                <a:solidFill>
                  <a:srgbClr val="1B222F"/>
                </a:solidFill>
                <a:latin typeface="Calibri"/>
              </a:rPr>
              <a:t>Every score, chart and wave recomputes live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B7484"/>
                </a:solidFill>
                <a:latin typeface="Calibri"/>
              </a:rPr>
              <a:t>CRYPTONEX  |  SIH 2026  |  PS 26164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355080"/>
            <a:ext cx="85039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B7484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15568"/>
          </a:xfrm>
          <a:prstGeom prst="rect">
            <a:avLst/>
          </a:prstGeom>
          <a:solidFill>
            <a:srgbClr val="1B2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15568"/>
            <a:ext cx="12191695" cy="45720"/>
          </a:xfrm>
          <a:prstGeom prst="rect">
            <a:avLst/>
          </a:prstGeom>
          <a:solidFill>
            <a:srgbClr val="1E9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82880"/>
            <a:ext cx="87782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50" b="1" i="0">
                <a:solidFill>
                  <a:srgbClr val="1E9EB8"/>
                </a:solidFill>
                <a:latin typeface="Calibri"/>
              </a:rPr>
              <a:t>COVERAGE: THE COLOR AND RATING GLOSSARY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Nothing Here Is a Black Box</a:t>
            </a:r>
          </a:p>
        </p:txBody>
      </p:sp>
      <p:sp>
        <p:nvSpPr>
          <p:cNvPr id="6" name="Rectangle 5"/>
          <p:cNvSpPr/>
          <p:nvPr/>
        </p:nvSpPr>
        <p:spPr>
          <a:xfrm>
            <a:off x="10469880" y="329184"/>
            <a:ext cx="1170432" cy="384048"/>
          </a:xfrm>
          <a:prstGeom prst="rect">
            <a:avLst/>
          </a:prstGeom>
          <a:solidFill>
            <a:srgbClr val="2C36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CAD4"/>
                </a:solidFill>
                <a:latin typeface="Calibri"/>
              </a:rPr>
              <a:t>1:05 - 1:12</a:t>
            </a:r>
          </a:p>
        </p:txBody>
      </p:sp>
      <p:sp>
        <p:nvSpPr>
          <p:cNvPr id="7" name="Rectangle 6"/>
          <p:cNvSpPr/>
          <p:nvPr/>
        </p:nvSpPr>
        <p:spPr>
          <a:xfrm>
            <a:off x="525780" y="1531620"/>
            <a:ext cx="7534656" cy="4740021"/>
          </a:xfrm>
          <a:prstGeom prst="rect">
            <a:avLst/>
          </a:prstGeom>
          <a:solidFill>
            <a:srgbClr val="DD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11-coverage-gloss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572768"/>
            <a:ext cx="7452360" cy="465772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458200" y="1572768"/>
            <a:ext cx="3154680" cy="1965960"/>
          </a:xfrm>
          <a:prstGeom prst="rect">
            <a:avLst/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9456" rIns="146304" tIns="164592" bIns="128016"/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900" b="1" i="0">
                <a:solidFill>
                  <a:srgbClr val="6B7484"/>
                </a:solidFill>
                <a:latin typeface="Calibri"/>
              </a:rPr>
              <a:t>NARRATION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1B222F"/>
                </a:solidFill>
                <a:latin typeface="Calibri"/>
              </a:rPr>
              <a:t>And nothing here is a black box - every color, every score, every rating is explained, right in the console.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58200" y="1572768"/>
            <a:ext cx="45720" cy="1965960"/>
          </a:xfrm>
          <a:prstGeom prst="rect">
            <a:avLst/>
          </a:prstGeom>
          <a:solidFill>
            <a:srgbClr val="1E9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0" y="3794760"/>
            <a:ext cx="306324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900" b="1" i="0">
                <a:solidFill>
                  <a:srgbClr val="6B7484"/>
                </a:solidFill>
                <a:latin typeface="Calibri"/>
              </a:rPr>
              <a:t>WHAT TO NOTICE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100" b="1">
                <a:solidFill>
                  <a:srgbClr val="1E9EB8"/>
                </a:solidFill>
                <a:latin typeface="Calibri"/>
              </a:rPr>
              <a:t>▪  </a:t>
            </a:r>
            <a:r>
              <a:rPr sz="1150">
                <a:solidFill>
                  <a:srgbClr val="1B222F"/>
                </a:solidFill>
                <a:latin typeface="Calibri"/>
              </a:rPr>
              <a:t>Built-in glossary for every color, score and rating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100" b="1">
                <a:solidFill>
                  <a:srgbClr val="1E9EB8"/>
                </a:solidFill>
                <a:latin typeface="Calibri"/>
              </a:rPr>
              <a:t>▪  </a:t>
            </a:r>
            <a:r>
              <a:rPr sz="1150">
                <a:solidFill>
                  <a:srgbClr val="1B222F"/>
                </a:solidFill>
                <a:latin typeface="Calibri"/>
              </a:rPr>
              <a:t>Explanations live in the console, not a separate manual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100" b="1">
                <a:solidFill>
                  <a:srgbClr val="1E9EB8"/>
                </a:solidFill>
                <a:latin typeface="Calibri"/>
              </a:rPr>
              <a:t>▪  </a:t>
            </a:r>
            <a:r>
              <a:rPr sz="1150">
                <a:solidFill>
                  <a:srgbClr val="1B222F"/>
                </a:solidFill>
                <a:latin typeface="Calibri"/>
              </a:rPr>
              <a:t>Auditable by design - defensible in front of a regulator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B7484"/>
                </a:solidFill>
                <a:latin typeface="Calibri"/>
              </a:rPr>
              <a:t>CRYPTONEX  |  SIH 2026  |  PS 26164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355080"/>
            <a:ext cx="85039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B7484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15568"/>
          </a:xfrm>
          <a:prstGeom prst="rect">
            <a:avLst/>
          </a:prstGeom>
          <a:solidFill>
            <a:srgbClr val="1B2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15568"/>
            <a:ext cx="12191695" cy="45720"/>
          </a:xfrm>
          <a:prstGeom prst="rect">
            <a:avLst/>
          </a:prstGeom>
          <a:solidFill>
            <a:srgbClr val="1E9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82880"/>
            <a:ext cx="87782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50" b="1" i="0">
                <a:solidFill>
                  <a:srgbClr val="1E9EB8"/>
                </a:solidFill>
                <a:latin typeface="Calibri"/>
              </a:rPr>
              <a:t>SCAN PAGE: DELIVERABLES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Export CBOM, SARIF and Report - Fully Offline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10469880" y="329184"/>
            <a:ext cx="1170432" cy="384048"/>
          </a:xfrm>
          <a:prstGeom prst="rect">
            <a:avLst/>
          </a:prstGeom>
          <a:solidFill>
            <a:srgbClr val="2C36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CAD4"/>
                </a:solidFill>
                <a:latin typeface="Calibri"/>
              </a:rPr>
              <a:t>1:12 - 1:18</a:t>
            </a:r>
          </a:p>
        </p:txBody>
      </p:sp>
      <p:sp>
        <p:nvSpPr>
          <p:cNvPr id="7" name="Rectangle 6"/>
          <p:cNvSpPr/>
          <p:nvPr/>
        </p:nvSpPr>
        <p:spPr>
          <a:xfrm>
            <a:off x="525780" y="1531620"/>
            <a:ext cx="7534656" cy="4740021"/>
          </a:xfrm>
          <a:prstGeom prst="rect">
            <a:avLst/>
          </a:prstGeom>
          <a:solidFill>
            <a:srgbClr val="DD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12-scan-downloa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572768"/>
            <a:ext cx="7452360" cy="465772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458200" y="1572768"/>
            <a:ext cx="3154680" cy="1965960"/>
          </a:xfrm>
          <a:prstGeom prst="rect">
            <a:avLst/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9456" rIns="146304" tIns="164592" bIns="128016"/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900" b="1" i="0">
                <a:solidFill>
                  <a:srgbClr val="6B7484"/>
                </a:solidFill>
                <a:latin typeface="Calibri"/>
              </a:rPr>
              <a:t>NARRATION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1B222F"/>
                </a:solidFill>
                <a:latin typeface="Calibri"/>
              </a:rPr>
              <a:t>Export the CBOM, SARIF, and report - fully offline, ready for a GRC platform, a SIEM, or your CI pipeline.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58200" y="1572768"/>
            <a:ext cx="45720" cy="1965960"/>
          </a:xfrm>
          <a:prstGeom prst="rect">
            <a:avLst/>
          </a:prstGeom>
          <a:solidFill>
            <a:srgbClr val="1E9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0" y="3794760"/>
            <a:ext cx="306324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900" b="1" i="0">
                <a:solidFill>
                  <a:srgbClr val="6B7484"/>
                </a:solidFill>
                <a:latin typeface="Calibri"/>
              </a:rPr>
              <a:t>WHAT TO NOTICE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100" b="1">
                <a:solidFill>
                  <a:srgbClr val="1E9EB8"/>
                </a:solidFill>
                <a:latin typeface="Calibri"/>
              </a:rPr>
              <a:t>▪  </a:t>
            </a:r>
            <a:r>
              <a:rPr sz="1150">
                <a:solidFill>
                  <a:srgbClr val="1B222F"/>
                </a:solidFill>
                <a:latin typeface="Calibri"/>
              </a:rPr>
              <a:t>CBOM for GRC platforms and asset inventories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100" b="1">
                <a:solidFill>
                  <a:srgbClr val="1E9EB8"/>
                </a:solidFill>
                <a:latin typeface="Calibri"/>
              </a:rPr>
              <a:t>▪  </a:t>
            </a:r>
            <a:r>
              <a:rPr sz="1150">
                <a:solidFill>
                  <a:srgbClr val="1B222F"/>
                </a:solidFill>
                <a:latin typeface="Calibri"/>
              </a:rPr>
              <a:t>SARIF for SIEM ingestion and CI/CD gating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100" b="1">
                <a:solidFill>
                  <a:srgbClr val="1E9EB8"/>
                </a:solidFill>
                <a:latin typeface="Calibri"/>
              </a:rPr>
              <a:t>▪  </a:t>
            </a:r>
            <a:r>
              <a:rPr sz="1150">
                <a:solidFill>
                  <a:srgbClr val="1B222F"/>
                </a:solidFill>
                <a:latin typeface="Calibri"/>
              </a:rPr>
              <a:t>Human-readable report for auditors and leadership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B7484"/>
                </a:solidFill>
                <a:latin typeface="Calibri"/>
              </a:rPr>
              <a:t>CRYPTONEX  |  SIH 2026  |  PS 26164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355080"/>
            <a:ext cx="85039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B7484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E9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2057400"/>
            <a:ext cx="9784080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600" b="1" i="0">
                <a:solidFill>
                  <a:srgbClr val="1E9EB8"/>
                </a:solidFill>
                <a:latin typeface="Calibri"/>
              </a:rPr>
              <a:t>CRYPTONEX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200"/>
              </a:spcAft>
            </a:pPr>
            <a:r>
              <a:rPr sz="4400" b="1" i="0">
                <a:solidFill>
                  <a:srgbClr val="FFFFFF"/>
                </a:solidFill>
                <a:latin typeface="Calibri"/>
              </a:rPr>
              <a:t>See It. Score It. Migrate It.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700" b="0" i="0">
                <a:solidFill>
                  <a:srgbClr val="C4CAD4"/>
                </a:solidFill>
                <a:latin typeface="Calibri"/>
              </a:rPr>
              <a:t>Discover every cryptographic asset - locally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700" b="0" i="0">
                <a:solidFill>
                  <a:srgbClr val="C4CAD4"/>
                </a:solidFill>
                <a:latin typeface="Calibri"/>
              </a:rPr>
              <a:t>Score quantum exposure with Mosca's inequality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700" b="0" i="0">
                <a:solidFill>
                  <a:srgbClr val="C4CAD4"/>
                </a:solidFill>
                <a:latin typeface="Calibri"/>
              </a:rPr>
              <a:t>Ship a sequenced, auditable migration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5989320"/>
            <a:ext cx="9784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C8799"/>
                </a:solidFill>
                <a:latin typeface="Calibri"/>
              </a:rPr>
              <a:t>CRYPTONEX  |  SIH 2026  |  PS 26164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